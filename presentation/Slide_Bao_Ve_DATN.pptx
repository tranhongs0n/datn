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NGHIÊN CỨU VÀ XÂY DỰNG HỆ THỐNG</a:t>
            </a:r>
          </a:p>
          <a:p>
            <a:r>
              <a:t>TRỢ LÝ ẢO HỖ TRỢ TUYỂN SINH</a:t>
            </a:r>
          </a:p>
          <a:p>
            <a:r>
              <a:t>DỰA TRÊN KỸ THUẬT 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Sinh viên: Trần Hồng Sơn - 1951060985</a:t>
            </a:r>
          </a:p>
          <a:p>
            <a:r>
              <a:t>GVHD: TS. Lý Anh Tuấn</a:t>
            </a:r>
          </a:p>
          <a:p>
            <a:r>
              <a:t>Lớp: 61TH1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Đặt vấn đề thực tiễn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Lượng thông tin tuyển sinh khổng lồ:</a:t>
            </a:r>
          </a:p>
          <a:p>
            <a:pPr lvl="1"/>
            <a:r>
              <a:t>Thay đổi quy chế liên tục hàng năm ở đa bậc đào tạo (ĐH, ThS, TS).</a:t>
            </a:r>
          </a:p>
          <a:p>
            <a:pPr lvl="1"/>
            <a:r>
              <a:t>Kho tài liệu lên tới 86 tệp quy chế chính thức.</a:t>
            </a:r>
          </a:p>
          <a:p>
            <a:pPr/>
            <a:r>
              <a:t>Hiện trạng tư vấn thủ công:</a:t>
            </a:r>
          </a:p>
          <a:p>
            <a:pPr lvl="1"/>
            <a:r>
              <a:t>Quá tải nhân lực trực Fanpage, Hotline trong mùa cao điểm.</a:t>
            </a:r>
          </a:p>
          <a:p>
            <a:pPr lvl="1"/>
            <a:r>
              <a:t>Thí sinh phải chờ đợi lâu, thông tin dễ sai sót.</a:t>
            </a:r>
          </a:p>
          <a:p>
            <a:pPr/>
            <a:r>
              <a:t>Nhược điểm của AI thông thường (ChatGPT):</a:t>
            </a:r>
          </a:p>
          <a:p>
            <a:pPr lvl="1"/>
            <a:r>
              <a:t>Không có dữ liệu nội bộ của trường.</a:t>
            </a:r>
          </a:p>
          <a:p>
            <a:pPr lvl="1"/>
            <a:r>
              <a:t>Hiện tượng 'Ảo giác' (Hallucination) - tự bịa điểm chuẩn, học phí.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Mục tiêu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Mục tiêu nghiệp vụ:</a:t>
            </a:r>
          </a:p>
          <a:p>
            <a:pPr lvl="1"/>
            <a:r>
              <a:t>Trả lời tự động 24/7 trực tiếp trên ứng dụng Zalo phổ biến.</a:t>
            </a:r>
          </a:p>
          <a:p>
            <a:pPr lvl="1"/>
            <a:r>
              <a:t>Chặn 100% câu hỏi ngoài lề (spam, chính trị, chửi bậy).</a:t>
            </a:r>
          </a:p>
          <a:p>
            <a:pPr lvl="1"/>
            <a:r>
              <a:t>Chính xác 100% dựa trên quy chế trường Đại học Thủy Lợi.</a:t>
            </a:r>
          </a:p>
          <a:p>
            <a:pPr/>
            <a:r>
              <a:t>Mục tiêu kỹ thuật:</a:t>
            </a:r>
          </a:p>
          <a:p>
            <a:pPr lvl="1"/>
            <a:r>
              <a:t>Ứng dụng kỹ thuật RAG để khắc phục ảo giác của LLM.</a:t>
            </a:r>
          </a:p>
          <a:p>
            <a:pPr lvl="1"/>
            <a:r>
              <a:t>Tự động hóa cập nhật dữ liệu bằng công cụ Web Scraper.</a:t>
            </a:r>
          </a:p>
          <a:p>
            <a:pPr lvl="1"/>
            <a:r>
              <a:t>Quản trị dễ dàng qua hệ thống Web Admin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Trí tuệ nhân tạo (AI):</a:t>
            </a:r>
          </a:p>
          <a:p>
            <a:pPr lvl="1"/>
            <a:r>
              <a:t>Google Gemini API (Embedding &amp; Text Generation).</a:t>
            </a:r>
          </a:p>
          <a:p>
            <a:pPr lvl="1"/>
            <a:r>
              <a:t>ChromaDB (Cơ sở dữ liệu Vector cục bộ).</a:t>
            </a:r>
          </a:p>
          <a:p>
            <a:pPr lvl="1"/>
            <a:r>
              <a:t>LangChain (Xây dựng luồng RAG).</a:t>
            </a:r>
          </a:p>
          <a:p>
            <a:pPr/>
            <a:r>
              <a:t>Backend &amp; Frontend:</a:t>
            </a:r>
          </a:p>
          <a:p>
            <a:pPr lvl="1"/>
            <a:r>
              <a:t>FastAPI (Python) - Hỗ trợ truyền dữ liệu Streaming (SSE).</a:t>
            </a:r>
          </a:p>
          <a:p>
            <a:pPr lvl="1"/>
            <a:r>
              <a:t>ReactJS (Xây dựng Web Admin Dashboard).</a:t>
            </a:r>
          </a:p>
          <a:p>
            <a:pPr lvl="1"/>
            <a:r>
              <a:t>Zalo Bot Webhook API.</a:t>
            </a:r>
          </a:p>
          <a:p>
            <a:pPr/>
            <a:r>
              <a:t>Cơ sở dữ liệu hệ thống:</a:t>
            </a:r>
          </a:p>
          <a:p>
            <a:pPr lvl="1"/>
            <a:r>
              <a:t>SQLite (Lưu thông tin Admin, từ điển viết tắt, lịch sử hội thoại).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Phân tích thiết kế: Biểu đồ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[DÁN BIỂU ĐỒ USE CASE VÀO ĐÂY]</a:t>
            </a:r>
          </a:p>
          <a:p>
            <a:pPr/>
            <a:r>
              <a:t>2 Actor chính của hệ thống:</a:t>
            </a:r>
          </a:p>
          <a:p>
            <a:pPr lvl="1"/>
            <a:r>
              <a:t>Thí sinh / Phụ huynh: Tra cứu thông tin, Chat trực tiếp trên Zalo.</a:t>
            </a:r>
          </a:p>
          <a:p>
            <a:pPr lvl="1"/>
            <a:r>
              <a:t>Ban Tuyển Sinh (Admin):</a:t>
            </a:r>
          </a:p>
          <a:p>
            <a:pPr/>
            <a:r>
              <a:t>    + Đăng nhập (Xác thực JWT).</a:t>
            </a:r>
          </a:p>
          <a:p>
            <a:pPr/>
            <a:r>
              <a:t>    + Quản lý tài liệu (Quy chế tuyển sinh).</a:t>
            </a:r>
          </a:p>
          <a:p>
            <a:pPr/>
            <a:r>
              <a:t>    + Quản lý bộ từ điển viết tắt.</a:t>
            </a:r>
          </a:p>
          <a:p>
            <a:pPr/>
            <a:r>
              <a:t>    + Giám sát lịch sử cuộc hội thoại.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Phân tích thiết kế: Biểu đồ Hoạt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[DÁN BIỂU ĐỒ ACTIVITY VÀO ĐÂY]</a:t>
            </a:r>
          </a:p>
          <a:p>
            <a:pPr/>
            <a:r>
              <a:t>Luồng xử lý tin nhắn Zalo thông minh:</a:t>
            </a:r>
          </a:p>
          <a:p>
            <a:pPr lvl="1"/>
            <a:r>
              <a:t>Bước 1: Tiền xử lý, dịch các từ lóng/viết tắt của học sinh.</a:t>
            </a:r>
          </a:p>
          <a:p>
            <a:pPr lvl="1"/>
            <a:r>
              <a:t>Bước 2: Đi qua Rule Engine chặn câu hỏi ngoài luồng.</a:t>
            </a:r>
          </a:p>
          <a:p>
            <a:pPr lvl="1"/>
            <a:r>
              <a:t>Bước 3: Tìm kiếm ngữ nghĩa (Semantic Search).</a:t>
            </a:r>
          </a:p>
          <a:p>
            <a:pPr lvl="1"/>
            <a:r>
              <a:t>Bước 4: Trả lời Streaming theo thời gian thực.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Phân tích thiết kế: Biểu đồ Tuần tự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[DÁN BIỂU ĐỒ SEQUENCE VÀO ĐÂY]</a:t>
            </a:r>
          </a:p>
          <a:p>
            <a:pPr/>
            <a:r>
              <a:t>Quá trình giao tiếp bất đồng bộ (Asynchronous):</a:t>
            </a:r>
          </a:p>
          <a:p>
            <a:pPr lvl="1"/>
            <a:r>
              <a:t>Zalo Server forward tin nhắn qua Webhook đến FastAPI.</a:t>
            </a:r>
          </a:p>
          <a:p>
            <a:pPr lvl="1"/>
            <a:r>
              <a:t>FastAPI mã hóa Vector và lấy tài liệu từ ChromaDB.</a:t>
            </a:r>
          </a:p>
          <a:p>
            <a:pPr lvl="1"/>
            <a:r>
              <a:t>Gọi API Gemini và trả về luồng chữ (Streaming).</a:t>
            </a:r>
          </a:p>
          <a:p>
            <a:pPr lvl="1"/>
            <a:r>
              <a:t>Xử lý bất đồng bộ giúp hệ thống phục vụ được hàng ngàn request cùng lúc.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Thiết kế Cơ sở dữ liệu Quản trị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[DÁN BIỂU ĐỒ ERD VÀO ĐÂY]</a:t>
            </a:r>
          </a:p>
          <a:p>
            <a:pPr/>
            <a:r>
              <a:t>CSDL SQLite gồm 4 bảng phục vụ vận hành:</a:t>
            </a:r>
          </a:p>
          <a:p>
            <a:pPr lvl="1"/>
            <a:r>
              <a:t>USERS: Quản lý bảo mật Admin (Mã hóa Bcrypt).</a:t>
            </a:r>
          </a:p>
          <a:p>
            <a:pPr lvl="1"/>
            <a:r>
              <a:t>DOCUMENTS: Trạng thái băm dữ liệu (Chunking/Embedded).</a:t>
            </a:r>
          </a:p>
          <a:p>
            <a:pPr lvl="1"/>
            <a:r>
              <a:t>DICTIONARIES: Bộ lọc từ viết tắt (VD: 'cntt' -&gt; 'Công nghệ thông tin').</a:t>
            </a:r>
          </a:p>
          <a:p>
            <a:pPr lvl="1"/>
            <a:r>
              <a:t>CHAT_LOGS: Lưu vết Audit Log và hiệu năng từng câu trả lời.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Giải pháp cốt lõi: Kiến trúc 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RAG (Retrieval-Augmented Generation):</a:t>
            </a:r>
          </a:p>
          <a:p>
            <a:pPr lvl="1"/>
            <a:r>
              <a:t>Giải quyết triệt để bệnh 'ảo giác' bằng cách cấp ngữ cảnh trước khi trả lời.</a:t>
            </a:r>
          </a:p>
          <a:p>
            <a:pPr/>
            <a:r>
              <a:t>Quy trình 3 bước xử lý câu hỏi:</a:t>
            </a:r>
          </a:p>
          <a:p>
            <a:pPr lvl="1"/>
            <a:r>
              <a:t>1. Embedding: Biến câu hỏi thành Vector 768 chiều.</a:t>
            </a:r>
          </a:p>
          <a:p>
            <a:pPr lvl="1"/>
            <a:r>
              <a:t>2. Retrieval: Tính khoảng cách Vector để kéo 5 đoạn tài liệu liên quan nhất từ ChromaDB.</a:t>
            </a:r>
          </a:p>
          <a:p>
            <a:pPr lvl="1"/>
            <a:r>
              <a:t>3. Generation: Ép Gemini phải trả lời hoàn toàn dựa trên 5 đoạn tài liệu này.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Tự động hóa Dữ liệu (Data 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Công cụ Web Scraper đa luồng:</a:t>
            </a:r>
          </a:p>
          <a:p>
            <a:pPr lvl="1"/>
            <a:r>
              <a:t>Tiết kiệm 95% thời gian so với nạp tài liệu thủ công.</a:t>
            </a:r>
          </a:p>
          <a:p>
            <a:pPr lvl="1"/>
            <a:r>
              <a:t>Tự động cào text từ web trường, tải file đính kèm Word/PDF.</a:t>
            </a:r>
          </a:p>
          <a:p>
            <a:pPr/>
            <a:r>
              <a:t>Thuật toán Chunking:</a:t>
            </a:r>
          </a:p>
          <a:p>
            <a:pPr lvl="1"/>
            <a:r>
              <a:t>Chia nhỏ văn bản dài thành các đoạn ~1000 ký tự.</a:t>
            </a:r>
          </a:p>
          <a:p>
            <a:pPr lvl="1"/>
            <a:r>
              <a:t>Vấn đề gặp phải: Phân mảnh ngữ cảnh (Chunking conflict) khi câu hỏi rẽ nhánh nhiều điều kiện.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Thuật toán tối ưu: Semantic Cache (Đệm ngữ nghĩa)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Bài toán thực tế:</a:t>
            </a:r>
          </a:p>
          <a:p>
            <a:pPr lvl="1"/>
            <a:r>
              <a:t>Hàng ngàn câu hỏi lặp lại ý nghĩa nhưng khác từ ngữ (Vd: 'Điểm chuẩn là nhiêu?' và 'Lấy mấy điểm?').</a:t>
            </a:r>
          </a:p>
          <a:p>
            <a:pPr lvl="1"/>
            <a:r>
              <a:t>Nếu gọi Gemini liên tục sẽ sập hệ thống (Rate Limit) và tốn tiền.</a:t>
            </a:r>
          </a:p>
          <a:p>
            <a:pPr/>
            <a:r>
              <a:t>Giải pháp thuật toán:</a:t>
            </a:r>
          </a:p>
          <a:p>
            <a:pPr lvl="1"/>
            <a:r>
              <a:t>So sánh Vector của câu hỏi MỚI với kho Vector CÂU HỎI CŨ.</a:t>
            </a:r>
          </a:p>
          <a:p>
            <a:pPr lvl="1"/>
            <a:r>
              <a:t>Sử dụng Tích vô hướng (Dot Product).</a:t>
            </a:r>
          </a:p>
          <a:p>
            <a:pPr lvl="1"/>
            <a:r>
              <a:t>Nếu độ tương đồng &gt; 95% -&gt; Lấy ngay câu trả lời cũ trả về.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Đánh giá hiệu năng Semantic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Kết quả giảm tải hệ thống (Stress Test):</a:t>
            </a:r>
          </a:p>
          <a:p>
            <a:pPr lvl="1"/>
            <a:r>
              <a:t>KHÔNG CACHE: Mất trung bình 2400ms (2.4 giây) chờ API.</a:t>
            </a:r>
          </a:p>
          <a:p>
            <a:pPr lvl="1"/>
            <a:r>
              <a:t>CÓ CACHE: Chỉ mất 8ms (đọc thẳng từ RAM cục bộ).</a:t>
            </a:r>
          </a:p>
          <a:p>
            <a:pPr/>
            <a:r>
              <a:t>Lợi ích kép:</a:t>
            </a:r>
          </a:p>
          <a:p>
            <a:pPr lvl="1"/>
            <a:r>
              <a:t>Tiết kiệm 62% chi phí gọi API.</a:t>
            </a:r>
          </a:p>
          <a:p>
            <a:pPr lvl="1"/>
            <a:r>
              <a:t>Tỷ lệ trúng đệm ngẫu nhiên trong thực tế lên tới ~62%.</a:t>
            </a:r>
          </a:p>
          <a:p>
            <a:pPr lvl="1"/>
            <a:r>
              <a:t>Giải quyết bài toán hàng ngàn người truy cập cùng lúc.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Phương pháp đánh giá mô hình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Khác với phần mềm thường, AI không thể test bằng True/False.</a:t>
            </a:r>
          </a:p>
          <a:p>
            <a:pPr/>
            <a:r>
              <a:t>Sử dụng phương pháp đánh giá RAGAS trên 1200 câu hỏi:</a:t>
            </a:r>
          </a:p>
          <a:p>
            <a:pPr lvl="1"/>
            <a:r>
              <a:t>Chia làm 5 nhóm kịch bản: Câu hỏi đơn, viết tắt, logic phức hợp, ngoài phạm vi, đa bậc đào tạo.</a:t>
            </a:r>
          </a:p>
          <a:p>
            <a:pPr/>
            <a:r>
              <a:t>4 Chỉ số đo lường độc lập:</a:t>
            </a:r>
          </a:p>
          <a:p>
            <a:pPr lvl="1"/>
            <a:r>
              <a:t>Context Precision (Độ chính xác ngữ cảnh).</a:t>
            </a:r>
          </a:p>
          <a:p>
            <a:pPr lvl="1"/>
            <a:r>
              <a:t>Context Recall (Độ bao phủ ngữ cảnh).</a:t>
            </a:r>
          </a:p>
          <a:p>
            <a:pPr lvl="1"/>
            <a:r>
              <a:t>Faithfulness (Độ trung thực, không ảo giác).</a:t>
            </a:r>
          </a:p>
          <a:p>
            <a:pPr lvl="1"/>
            <a:r>
              <a:t>Answer Relevancy (Độ phù hợp của câu trả lời).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Kết quả đánh giá thực nghiệm (RAGAS)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Kết quả vượt kỳ vọng trên 1200 mẫu test:</a:t>
            </a:r>
          </a:p>
          <a:p>
            <a:pPr lvl="1"/>
            <a:r>
              <a:t>Context Precision đạt 0.94: Tìm tài liệu cực chuẩn.</a:t>
            </a:r>
          </a:p>
          <a:p>
            <a:pPr lvl="1"/>
            <a:r>
              <a:t>Faithfulness đạt 0.89: Gần như loại bỏ hoàn toàn 'ảo giác'.</a:t>
            </a:r>
          </a:p>
          <a:p>
            <a:pPr lvl="1"/>
            <a:r>
              <a:t>An toàn hệ thống: Chặn thành công 95% câu hỏi rác, ngoài lề.</a:t>
            </a:r>
          </a:p>
          <a:p>
            <a:pPr/>
            <a:r>
              <a:t>Vấn đề còn tồn đọng:</a:t>
            </a:r>
          </a:p>
          <a:p>
            <a:pPr lvl="1"/>
            <a:r>
              <a:t>Nhóm câu hỏi Logic Phức hợp (Context Recall = 0.85).</a:t>
            </a:r>
          </a:p>
          <a:p>
            <a:pPr lvl="1"/>
            <a:r>
              <a:t>Nguyên nhân do thuật toán Chunking cắt đôi các điều kiện liên kết.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Giao diện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[DÁN ẢNH ĐIỆN THOẠI CHAT VỚI ZALO BOT VÀO ĐÂY]</a:t>
            </a:r>
          </a:p>
          <a:p>
            <a:pPr/>
            <a:r>
              <a:t>[DÁN ẢNH MÀN HÌNH QUẢN TRỊ WEB ADMIN VÀO ĐÂY]</a:t>
            </a:r>
          </a:p>
          <a:p>
            <a:pPr/>
            <a:r>
              <a:t>Trải nghiệm người dùng mượt mà, phản hồi dạng chữ chạy (Streaming).</a:t>
            </a:r>
          </a:p>
          <a:p>
            <a:pPr/>
            <a:r>
              <a:t>Quản trị viên không cần biết code vẫn thao tác cập nhật quy chế dễ dàng.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Hạn chế &amp;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Hạn chế:</a:t>
            </a:r>
          </a:p>
          <a:p>
            <a:pPr lvl="1"/>
            <a:r>
              <a:t>Semantic Cache cục bộ chưa hỗ trợ cân bằng tải đa máy chủ.</a:t>
            </a:r>
          </a:p>
          <a:p>
            <a:pPr lvl="1"/>
            <a:r>
              <a:t>Khó xử lý câu hỏi rẽ nhánh nhiều điều kiện chéo.</a:t>
            </a:r>
          </a:p>
          <a:p>
            <a:pPr/>
            <a:r>
              <a:t>Hướng phát triển tương lai:</a:t>
            </a:r>
          </a:p>
          <a:p>
            <a:pPr lvl="1"/>
            <a:r>
              <a:t>Chuyển Semantic Cache lên siêu bộ nhớ Redis.</a:t>
            </a:r>
          </a:p>
          <a:p>
            <a:pPr lvl="1"/>
            <a:r>
              <a:t>Nâng cấp kiến trúc RAG lên GraphRAG (Mạng tri thức).</a:t>
            </a:r>
          </a:p>
          <a:p>
            <a:pPr lvl="1"/>
            <a:r>
              <a:t>Triển khai Autonomous Agent Scraper tự thích nghi với thay đổi web.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CẢM ƠN HỘI ĐỒNG ĐÃ LẮNG NGHE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PHẦN DEMO TRỰC TIẾP &amp; TRẢ LỜI CÂU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/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